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12192000"/>
  <p:embeddedFontLst>
    <p:embeddedFont>
      <p:font typeface="Arial Black" panose="020B0A04020102020204" pitchFamily="34" charset="0"/>
      <p:bold r:id="rId11"/>
    </p:embeddedFont>
    <p:embeddedFont>
      <p:font typeface="Bahnschrift Condensed" panose="020B0502040204020203" pitchFamily="34" charset="0"/>
      <p:regular r:id="rId12"/>
      <p:bold r:id="rId13"/>
    </p:embeddedFont>
    <p:embeddedFont>
      <p:font typeface="Figtree" panose="020B0604020202020204" charset="0"/>
      <p:regular r:id="rId14"/>
    </p:embeddedFont>
    <p:embeddedFont>
      <p:font typeface="Figtree Bold" panose="020B0604020202020204" charset="0"/>
      <p:regular r:id="rId15"/>
    </p:embeddedFont>
    <p:embeddedFont>
      <p:font typeface="Figtree SemiBold" panose="020B0604020202020204" charset="0"/>
      <p:regular r:id="rId16"/>
    </p:embeddedFont>
    <p:embeddedFont>
      <p:font typeface="Franklin Gothic Demi" panose="020B0703020102020204" pitchFamily="34" charset="0"/>
      <p:regular r:id="rId17"/>
      <p:italic r:id="rId18"/>
    </p:embeddedFont>
    <p:embeddedFont>
      <p:font typeface="Franklin Gothic Medium" panose="020B0603020102020204" pitchFamily="34" charset="0"/>
      <p:regular r:id="rId19"/>
      <p:italic r:id="rId20"/>
    </p:embeddedFont>
    <p:embeddedFont>
      <p:font typeface="Red Hat Mono Medium" panose="020B0604020202020204" charset="0"/>
      <p:regular r:id="rId21"/>
    </p:embeddedFont>
    <p:embeddedFont>
      <p:font typeface="Urbanist Bold" panose="020B0604020202020204" charset="0"/>
      <p:regular r:id="rId22"/>
    </p:embeddedFont>
    <p:embeddedFont>
      <p:font typeface="Urbanist ExtraBold" panose="020B0604020202020204" charset="0"/>
      <p:regular r:id="rId23"/>
    </p:embeddedFont>
    <p:embeddedFont>
      <p:font typeface="Urbanist SemiBold" panose="020B0604020202020204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64F86F-49FB-40F0-AB29-712A0DD81550}" v="1" dt="2026-10-03T09:47:44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van Kumar" userId="6d453d41b8bfe803" providerId="LiveId" clId="{E7F5848D-32C3-4FE2-8D06-19DA0904F623}"/>
    <pc:docChg chg="modSld">
      <pc:chgData name="Sarvan Kumar" userId="6d453d41b8bfe803" providerId="LiveId" clId="{E7F5848D-32C3-4FE2-8D06-19DA0904F623}" dt="2026-10-03T09:47:44.486" v="0" actId="767"/>
      <pc:docMkLst>
        <pc:docMk/>
      </pc:docMkLst>
      <pc:sldChg chg="addSp modSp">
        <pc:chgData name="Sarvan Kumar" userId="6d453d41b8bfe803" providerId="LiveId" clId="{E7F5848D-32C3-4FE2-8D06-19DA0904F623}" dt="2026-10-03T09:47:44.486" v="0" actId="767"/>
        <pc:sldMkLst>
          <pc:docMk/>
          <pc:sldMk cId="334274356" sldId="262"/>
        </pc:sldMkLst>
        <pc:spChg chg="add mod">
          <ac:chgData name="Sarvan Kumar" userId="6d453d41b8bfe803" providerId="LiveId" clId="{E7F5848D-32C3-4FE2-8D06-19DA0904F623}" dt="2026-10-03T09:47:44.486" v="0" actId="767"/>
          <ac:spMkLst>
            <pc:docMk/>
            <pc:sldMk cId="334274356" sldId="262"/>
            <ac:spMk id="2" creationId="{70AD4C4A-7AC8-3B14-8E9D-D8F2ECCD94B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22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Online Shopping Product Optimizer designed to help shoppers quickly compare prices, reviews, and specs across sites like Amazon and Flipkart.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friction everyday shoppers face: opening multiple tabs across retailers leads to confusion, scattered specs, and wasted study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4 steps left to right: the user searches once, the backend fetches and normalizes the listings, compares key criteria, and serves the best pick.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five core pillars: live price tracking, aggregated user sentiment, spec breakdowns, deal detection, and personalized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practical impact for college students: budget control, confidence, and finding reliable gear like laptops within exact spending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the core takeaway motto "Shop Smart, Save More!", summarizing data collection, simplified comparison, and faster confident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9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066978-99B7-5F5C-7505-B4CF0122E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17597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8132FD-D41B-69E3-B050-9AAA826B2233}"/>
              </a:ext>
            </a:extLst>
          </p:cNvPr>
          <p:cNvSpPr txBox="1"/>
          <p:nvPr/>
        </p:nvSpPr>
        <p:spPr>
          <a:xfrm>
            <a:off x="42790" y="2104585"/>
            <a:ext cx="11160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latin typeface="Franklin Gothic Medium" panose="020B0603020102020204" pitchFamily="34" charset="0"/>
              </a:rPr>
              <a:t>TOPIC</a:t>
            </a:r>
            <a:r>
              <a:rPr lang="en-IN" sz="4000" dirty="0">
                <a:latin typeface="Franklin Gothic Demi" panose="020B0703020102020204" pitchFamily="34" charset="0"/>
              </a:rPr>
              <a:t>:  ONLINE SHOPPING PRODUCT OPTIMIZER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7F4271-0E84-BF38-28D4-73EE7904F67E}"/>
              </a:ext>
            </a:extLst>
          </p:cNvPr>
          <p:cNvSpPr txBox="1"/>
          <p:nvPr/>
        </p:nvSpPr>
        <p:spPr>
          <a:xfrm>
            <a:off x="422697" y="3907766"/>
            <a:ext cx="3057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rial Black" panose="020B0A04020102020204" pitchFamily="34" charset="0"/>
              </a:rPr>
              <a:t>PRESENTED BY TEAM: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796D22-D48D-F355-5E78-465715DE30A1}"/>
              </a:ext>
            </a:extLst>
          </p:cNvPr>
          <p:cNvSpPr txBox="1"/>
          <p:nvPr/>
        </p:nvSpPr>
        <p:spPr>
          <a:xfrm>
            <a:off x="4085086" y="4003312"/>
            <a:ext cx="3522118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Bahnschrift Condensed" panose="020B0502040204020203" pitchFamily="34" charset="0"/>
              </a:rPr>
              <a:t>NAME :</a:t>
            </a:r>
          </a:p>
          <a:p>
            <a:r>
              <a:rPr lang="en-IN" sz="3200" dirty="0">
                <a:latin typeface="Bahnschrift Condensed" panose="020B0502040204020203" pitchFamily="34" charset="0"/>
              </a:rPr>
              <a:t>                </a:t>
            </a:r>
            <a:r>
              <a:rPr lang="en-IN" sz="3200" dirty="0" err="1">
                <a:latin typeface="Bahnschrift Condensed" panose="020B0502040204020203" pitchFamily="34" charset="0"/>
              </a:rPr>
              <a:t>N.Vikas</a:t>
            </a:r>
            <a:endParaRPr lang="en-IN" sz="3200" dirty="0">
              <a:latin typeface="Bahnschrift Condensed" panose="020B0502040204020203" pitchFamily="34" charset="0"/>
            </a:endParaRPr>
          </a:p>
          <a:p>
            <a:r>
              <a:rPr lang="en-IN" sz="3200" dirty="0">
                <a:latin typeface="Bahnschrift Condensed" panose="020B0502040204020203" pitchFamily="34" charset="0"/>
              </a:rPr>
              <a:t>              </a:t>
            </a:r>
            <a:r>
              <a:rPr lang="en-IN" sz="3200" dirty="0" err="1">
                <a:latin typeface="Bahnschrift Condensed" panose="020B0502040204020203" pitchFamily="34" charset="0"/>
              </a:rPr>
              <a:t>A.Sravan</a:t>
            </a:r>
            <a:r>
              <a:rPr lang="en-IN" sz="3200" dirty="0">
                <a:latin typeface="Bahnschrift Condensed" panose="020B0502040204020203" pitchFamily="34" charset="0"/>
              </a:rPr>
              <a:t> </a:t>
            </a:r>
            <a:r>
              <a:rPr lang="en-IN" sz="3200" dirty="0" err="1">
                <a:latin typeface="Bahnschrift Condensed" panose="020B0502040204020203" pitchFamily="34" charset="0"/>
              </a:rPr>
              <a:t>kumar</a:t>
            </a:r>
            <a:endParaRPr lang="en-IN" sz="3200" dirty="0">
              <a:latin typeface="Bahnschrift Condensed" panose="020B0502040204020203" pitchFamily="34" charset="0"/>
            </a:endParaRPr>
          </a:p>
          <a:p>
            <a:r>
              <a:rPr lang="en-IN" sz="3200" dirty="0">
                <a:latin typeface="Bahnschrift Condensed" panose="020B0502040204020203" pitchFamily="34" charset="0"/>
              </a:rPr>
              <a:t>              </a:t>
            </a:r>
            <a:r>
              <a:rPr lang="en-IN" sz="3200" dirty="0" err="1">
                <a:latin typeface="Bahnschrift Condensed" panose="020B0502040204020203" pitchFamily="34" charset="0"/>
              </a:rPr>
              <a:t>N.Gowtham</a:t>
            </a:r>
            <a:endParaRPr lang="en-IN" sz="3200" dirty="0">
              <a:latin typeface="Bahnschrift Condensed" panose="020B0502040204020203" pitchFamily="34" charset="0"/>
            </a:endParaRPr>
          </a:p>
          <a:p>
            <a:r>
              <a:rPr lang="en-IN" sz="3200" dirty="0">
                <a:latin typeface="Bahnschrift Condensed" panose="020B0502040204020203" pitchFamily="34" charset="0"/>
              </a:rPr>
              <a:t>              </a:t>
            </a:r>
            <a:r>
              <a:rPr lang="en-IN" sz="3200" dirty="0" err="1">
                <a:latin typeface="Bahnschrift Condensed" panose="020B0502040204020203" pitchFamily="34" charset="0"/>
              </a:rPr>
              <a:t>Y.Chandu</a:t>
            </a:r>
            <a:r>
              <a:rPr lang="en-IN" sz="3200" dirty="0">
                <a:latin typeface="Bahnschrift Condensed" panose="020B0502040204020203" pitchFamily="34" charset="0"/>
              </a:rPr>
              <a:t> Reddy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AD4C4A-7AC8-3B14-8E9D-D8F2ECCD94BB}"/>
              </a:ext>
            </a:extLst>
          </p:cNvPr>
          <p:cNvSpPr txBox="1"/>
          <p:nvPr/>
        </p:nvSpPr>
        <p:spPr>
          <a:xfrm>
            <a:off x="4491789" y="18528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74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32644"/>
            <a:ext cx="467348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b="1" kern="100" spc="-7" dirty="0">
                <a:solidFill>
                  <a:srgbClr val="1E2A44"/>
                </a:solidFill>
                <a:latin typeface="Urbanist Bold" pitchFamily="34" charset="0"/>
                <a:ea typeface="Urbanist Bold" pitchFamily="34" charset="-122"/>
                <a:cs typeface="Urbanist Bold" pitchFamily="34" charset="-120"/>
              </a:rPr>
              <a:t>Smart Commerce · Student Project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585" y="1426369"/>
            <a:ext cx="4368691" cy="2773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5200" kern="100" spc="-104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Online Shopping Product Optimizer</a:t>
            </a:r>
            <a:endParaRPr lang="en-US" sz="5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417616"/>
            <a:ext cx="4368691" cy="1238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4712891"/>
            <a:ext cx="4368691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Find better products faster by comparing price, ratings, features, and deals across shopping websites.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09585" y="5850632"/>
            <a:ext cx="467348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B.TECH PRESENTATION · CLASSROOM DEMO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3068" y="0"/>
            <a:ext cx="690862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080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75882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Online shopping takes too much searching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349375"/>
            <a:ext cx="10972526" cy="12382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79" y="1905000"/>
            <a:ext cx="3748887" cy="42672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272749" y="1740892"/>
            <a:ext cx="6309361" cy="862905"/>
          </a:xfrm>
          <a:prstGeom prst="roundRect">
            <a:avLst>
              <a:gd name="adj" fmla="val 24725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FF8A3D">
                <a:alpha val="10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3"/>
          <p:cNvSpPr/>
          <p:nvPr/>
        </p:nvSpPr>
        <p:spPr>
          <a:xfrm>
            <a:off x="5482294" y="1848842"/>
            <a:ext cx="589027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Checking multiple stores takes time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482294" y="2229148"/>
            <a:ext cx="609981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Comparing Amazon, Flipkart, and other websites takes time.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272749" y="2756198"/>
            <a:ext cx="6309361" cy="1129605"/>
          </a:xfrm>
          <a:prstGeom prst="roundRect">
            <a:avLst>
              <a:gd name="adj" fmla="val 18888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FF8A3D">
                <a:alpha val="10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5482294" y="2864148"/>
            <a:ext cx="589027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Prices, ratings, and features vary widely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482294" y="3244453"/>
            <a:ext cx="589027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same gadget can have different discount tags, buyer feedback, and warranty terms.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272749" y="4038203"/>
            <a:ext cx="6309361" cy="1129605"/>
          </a:xfrm>
          <a:prstGeom prst="roundRect">
            <a:avLst>
              <a:gd name="adj" fmla="val 18888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FF8A3D">
                <a:alpha val="10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9"/>
          <p:cNvSpPr/>
          <p:nvPr/>
        </p:nvSpPr>
        <p:spPr>
          <a:xfrm>
            <a:off x="5482294" y="4146153"/>
            <a:ext cx="5890271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Tab overload leads to missed deals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482294" y="4526459"/>
            <a:ext cx="589027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Opening ten tabs tires shoppers and can make them miss the highest-rated budget option.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272749" y="5320209"/>
            <a:ext cx="6309361" cy="1016000"/>
          </a:xfrm>
          <a:prstGeom prst="roundRect">
            <a:avLst>
              <a:gd name="adj" fmla="val 21000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5482294" y="5428159"/>
            <a:ext cx="589027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1E2A44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Student example:</a:t>
            </a: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A student buying wireless headphones checks 4 to 5 listings for battery life, ratings, and delivery fees before choosing.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080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75882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The optimizer turns many listings into one clear choice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349375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simple four-step automated pipeline that does the tedious cross-tab comparison for the buyer.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787525"/>
            <a:ext cx="10972526" cy="1238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585" y="2816622"/>
            <a:ext cx="2514537" cy="2473325"/>
          </a:xfrm>
          <a:prstGeom prst="roundRect">
            <a:avLst>
              <a:gd name="adj" fmla="val 8626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30" y="3051572"/>
            <a:ext cx="380990" cy="381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9130" y="3546872"/>
            <a:ext cx="209544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1. Search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819130" y="3988197"/>
            <a:ext cx="2095448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buyer enters a single item name, budget cap, or target feature.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3428914" y="2816622"/>
            <a:ext cx="2514537" cy="2473325"/>
          </a:xfrm>
          <a:prstGeom prst="roundRect">
            <a:avLst>
              <a:gd name="adj" fmla="val 8626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8459" y="3051572"/>
            <a:ext cx="380990" cy="381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38459" y="3546872"/>
            <a:ext cx="209544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2. Collect Details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3638459" y="3988197"/>
            <a:ext cx="2095448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system gathers current product info across shopping websites automatically.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248244" y="2816622"/>
            <a:ext cx="2514537" cy="2473325"/>
          </a:xfrm>
          <a:prstGeom prst="roundRect">
            <a:avLst>
              <a:gd name="adj" fmla="val 8626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7788" y="3051572"/>
            <a:ext cx="380990" cy="3810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57788" y="3546872"/>
            <a:ext cx="209544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3. Compare</a:t>
            </a:r>
            <a:endParaRPr lang="en-US" sz="2000" dirty="0"/>
          </a:p>
        </p:txBody>
      </p:sp>
      <p:sp>
        <p:nvSpPr>
          <p:cNvPr id="17" name="Text 11"/>
          <p:cNvSpPr/>
          <p:nvPr/>
        </p:nvSpPr>
        <p:spPr>
          <a:xfrm>
            <a:off x="6457788" y="3988197"/>
            <a:ext cx="2095448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It weighs real-time prices, star ratings, key specs, and stock availability.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9067573" y="2816622"/>
            <a:ext cx="2514537" cy="2473325"/>
          </a:xfrm>
          <a:prstGeom prst="roundRect">
            <a:avLst>
              <a:gd name="adj" fmla="val 8626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3FC89A">
                <a:alpha val="100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77118" y="3051572"/>
            <a:ext cx="380990" cy="3810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277118" y="3546872"/>
            <a:ext cx="209544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4. Best Options</a:t>
            </a:r>
            <a:endParaRPr lang="en-US" sz="2000" dirty="0"/>
          </a:p>
        </p:txBody>
      </p:sp>
      <p:sp>
        <p:nvSpPr>
          <p:cNvPr id="21" name="Text 14"/>
          <p:cNvSpPr/>
          <p:nvPr/>
        </p:nvSpPr>
        <p:spPr>
          <a:xfrm>
            <a:off x="9277118" y="3988197"/>
            <a:ext cx="2095448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It highlights the best-value match and top alternatives in one clean view.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609585" y="6195219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Flowchart: Search query → Automated scraping &amp; API retrieval → Multi-factor comparison → Final recommendation.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826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73342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One place for the comparisons that matter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323975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Compare prices, ratings, features, deals, and recommendations in one place.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762125"/>
            <a:ext cx="10972526" cy="1238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585" y="2150170"/>
            <a:ext cx="3454314" cy="1986855"/>
          </a:xfrm>
          <a:prstGeom prst="roundRect">
            <a:avLst>
              <a:gd name="adj" fmla="val 10738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819130" y="2359720"/>
            <a:ext cx="527037" cy="52705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351" y="2508945"/>
            <a:ext cx="228594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9130" y="3013770"/>
            <a:ext cx="303522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Cross-Store Prices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19130" y="3394075"/>
            <a:ext cx="324476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Compare prices across websites.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68691" y="2150170"/>
            <a:ext cx="3454314" cy="1986855"/>
          </a:xfrm>
          <a:prstGeom prst="roundRect">
            <a:avLst>
              <a:gd name="adj" fmla="val 10738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8"/>
          <p:cNvSpPr/>
          <p:nvPr/>
        </p:nvSpPr>
        <p:spPr>
          <a:xfrm>
            <a:off x="4578235" y="2359720"/>
            <a:ext cx="527037" cy="52705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57" y="2508945"/>
            <a:ext cx="228594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8235" y="3013770"/>
            <a:ext cx="303522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Ratings &amp; Reviews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578235" y="3394075"/>
            <a:ext cx="303522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Compare product ratings and reviews.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127797" y="2150170"/>
            <a:ext cx="3454314" cy="1986855"/>
          </a:xfrm>
          <a:prstGeom prst="roundRect">
            <a:avLst>
              <a:gd name="adj" fmla="val 10738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2"/>
          <p:cNvSpPr/>
          <p:nvPr/>
        </p:nvSpPr>
        <p:spPr>
          <a:xfrm>
            <a:off x="8337341" y="2359720"/>
            <a:ext cx="527037" cy="52705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6563" y="2508945"/>
            <a:ext cx="228594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37341" y="3013770"/>
            <a:ext cx="303522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Important Features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337341" y="3394075"/>
            <a:ext cx="324476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Compare important features.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09585" y="4441825"/>
            <a:ext cx="5333867" cy="1720155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3FC89A">
                <a:alpha val="10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16"/>
          <p:cNvSpPr/>
          <p:nvPr/>
        </p:nvSpPr>
        <p:spPr>
          <a:xfrm>
            <a:off x="819130" y="4651375"/>
            <a:ext cx="527037" cy="52705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351" y="4800600"/>
            <a:ext cx="228594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19130" y="5305425"/>
            <a:ext cx="491477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Identify Best Deals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819130" y="5685730"/>
            <a:ext cx="512432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Identify the best deals.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6248244" y="4441825"/>
            <a:ext cx="5333867" cy="1720155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3FC89A">
                <a:alpha val="10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0"/>
          <p:cNvSpPr/>
          <p:nvPr/>
        </p:nvSpPr>
        <p:spPr>
          <a:xfrm>
            <a:off x="6457788" y="4651375"/>
            <a:ext cx="527037" cy="527050"/>
          </a:xfrm>
          <a:prstGeom prst="ellipse">
            <a:avLst/>
          </a:prstGeom>
          <a:solidFill>
            <a:srgbClr val="1E2A44"/>
          </a:solidFill>
          <a:ln w="6350">
            <a:solidFill>
              <a:srgbClr val="37435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7010" y="4800600"/>
            <a:ext cx="228594" cy="2286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457788" y="5305425"/>
            <a:ext cx="491477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Tailored Recommendations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6457788" y="5685730"/>
            <a:ext cx="512432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Recommend products based on user needs.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82600"/>
            <a:ext cx="6705432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PRACTICAL BENEFITS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733425"/>
            <a:ext cx="634984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Better choices with less effort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323975"/>
            <a:ext cx="6349841" cy="1238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585" y="1619250"/>
            <a:ext cx="6349841" cy="1180405"/>
          </a:xfrm>
          <a:prstGeom prst="roundRect">
            <a:avLst>
              <a:gd name="adj" fmla="val 18075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3FC89A">
                <a:alpha val="10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819130" y="1752600"/>
            <a:ext cx="593075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Saves valuable time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9130" y="2132905"/>
            <a:ext cx="59307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Summarizes listings in seconds, reducing repeated searches and tab fatigue.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9585" y="2952055"/>
            <a:ext cx="6349841" cy="1447105"/>
          </a:xfrm>
          <a:prstGeom prst="roundRect">
            <a:avLst>
              <a:gd name="adj" fmla="val 14744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819130" y="3085405"/>
            <a:ext cx="593075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Increases buyer confidence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9130" y="3465711"/>
            <a:ext cx="593075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Unified data helps shoppers choose confidently without fearing a lower price elsewhere. Useful to online buyers and shopping websites.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09585" y="4551561"/>
            <a:ext cx="6349841" cy="1180405"/>
          </a:xfrm>
          <a:prstGeom prst="roundRect">
            <a:avLst>
              <a:gd name="adj" fmla="val 18075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819130" y="4684911"/>
            <a:ext cx="593075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Protects your budget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19130" y="5065216"/>
            <a:ext cx="593075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Firm filters help students and families avoid overspending and find suitable products within a budget.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09585" y="5884366"/>
            <a:ext cx="6349841" cy="10668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819130" y="6017716"/>
            <a:ext cx="593075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1E2A44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Student example:</a:t>
            </a: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An engineering student can find a dependable laptop with 16GB RAM under a strict ₹50,000 budget without cross-referencing dozens of retail pages.</a:t>
            </a:r>
            <a:endParaRPr lang="en-US" sz="15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017" y="457200"/>
            <a:ext cx="4368691" cy="64939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080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SUMMARY &amp; TAKEAWAY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758825"/>
            <a:ext cx="10972526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88" dirty="0">
                <a:solidFill>
                  <a:srgbClr val="1E2A44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Shop Smart, Save More!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1536005"/>
            <a:ext cx="1158211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Building an intelligent shopping assistant that puts buyers first.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27436"/>
            <a:ext cx="10972526" cy="12382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585" y="2683768"/>
            <a:ext cx="3454314" cy="2511425"/>
          </a:xfrm>
          <a:prstGeom prst="roundRect">
            <a:avLst>
              <a:gd name="adj" fmla="val 8495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869928" y="2969518"/>
            <a:ext cx="932732" cy="304800"/>
          </a:xfrm>
          <a:prstGeom prst="roundRect">
            <a:avLst>
              <a:gd name="adj" fmla="val 44999"/>
            </a:avLst>
          </a:prstGeom>
          <a:solidFill>
            <a:srgbClr val="DCE2EF"/>
          </a:solidFill>
          <a:ln/>
          <a:effectLst>
            <a:outerShdw blurRad="127" dist="36830" dir="5400000" algn="bl" rotWithShape="0">
              <a:srgbClr val="1E2A44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984225" y="3026668"/>
            <a:ext cx="131372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72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COLLECT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9928" y="3401318"/>
            <a:ext cx="293362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Aggregated Information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69928" y="3842643"/>
            <a:ext cx="2933627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Pulls live listings, availability, and merchant specs automatically from across online shopping stores.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68691" y="2683768"/>
            <a:ext cx="3454314" cy="2511425"/>
          </a:xfrm>
          <a:prstGeom prst="roundRect">
            <a:avLst>
              <a:gd name="adj" fmla="val 8495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629034" y="2969518"/>
            <a:ext cx="1033337" cy="304800"/>
          </a:xfrm>
          <a:prstGeom prst="roundRect">
            <a:avLst>
              <a:gd name="adj" fmla="val 44999"/>
            </a:avLst>
          </a:prstGeom>
          <a:solidFill>
            <a:srgbClr val="DCE2EF"/>
          </a:solidFill>
          <a:ln/>
          <a:effectLst>
            <a:outerShdw blurRad="127" dist="36830" dir="5400000" algn="bl" rotWithShape="0">
              <a:srgbClr val="1E2A44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4743331" y="3026668"/>
            <a:ext cx="141432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72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SIMPLIFY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29034" y="3401318"/>
            <a:ext cx="293362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Clear Comparisons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629034" y="3842643"/>
            <a:ext cx="2933627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Transforms confusing price tables, fragmented reviews, and spec sheets into easy-to-read choices.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127797" y="2683768"/>
            <a:ext cx="3454314" cy="2511425"/>
          </a:xfrm>
          <a:prstGeom prst="roundRect">
            <a:avLst>
              <a:gd name="adj" fmla="val 8495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3FC89A">
                <a:alpha val="10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8388140" y="2969518"/>
            <a:ext cx="832127" cy="304800"/>
          </a:xfrm>
          <a:prstGeom prst="roundRect">
            <a:avLst>
              <a:gd name="adj" fmla="val 44999"/>
            </a:avLst>
          </a:prstGeom>
          <a:solidFill>
            <a:srgbClr val="DCE2EF"/>
          </a:solidFill>
          <a:ln/>
          <a:effectLst>
            <a:outerShdw blurRad="127" dist="36830" dir="5400000" algn="bl" rotWithShape="0">
              <a:srgbClr val="1E2A44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8502437" y="3026668"/>
            <a:ext cx="121311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100" spc="72" dirty="0">
                <a:solidFill>
                  <a:srgbClr val="1E2A44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DECIDE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388140" y="3401318"/>
            <a:ext cx="293362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Faster Decisions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388140" y="3842643"/>
            <a:ext cx="2933627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Enables smart consumer decisions in minutes, securing the optimal deal while keeping budgets safe.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09585" y="5727700"/>
            <a:ext cx="10972526" cy="673100"/>
          </a:xfrm>
          <a:prstGeom prst="roundRect">
            <a:avLst>
              <a:gd name="adj" fmla="val 31697"/>
            </a:avLst>
          </a:prstGeom>
          <a:solidFill>
            <a:srgbClr val="FFFFFF"/>
          </a:solidFill>
          <a:ln w="6350">
            <a:solidFill>
              <a:srgbClr val="C6DBF1"/>
            </a:solidFill>
            <a:prstDash val="solid"/>
          </a:ln>
          <a:effectLst>
            <a:outerShdw blurRad="127" dist="62230" dir="5400000" algn="bl" rotWithShape="0">
              <a:srgbClr val="3FC89A">
                <a:alpha val="10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920727" y="5911850"/>
            <a:ext cx="1035024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1E2A44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Online Shopping Product Optimizer · Confident shopping for every student and buyer.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 You For Your Support Stock Photos, Images and Backgrounds for Free  Download">
            <a:extLst>
              <a:ext uri="{FF2B5EF4-FFF2-40B4-BE49-F238E27FC236}">
                <a16:creationId xmlns:a16="http://schemas.microsoft.com/office/drawing/2014/main" id="{F5BD2076-4896-40F6-A143-EAF5AFB2A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773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611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676</Words>
  <Application>Microsoft Office PowerPoint</Application>
  <PresentationFormat>Widescreen</PresentationFormat>
  <Paragraphs>79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1" baseType="lpstr">
      <vt:lpstr>Bahnschrift Condensed</vt:lpstr>
      <vt:lpstr>Franklin Gothic Medium</vt:lpstr>
      <vt:lpstr>Arial Black</vt:lpstr>
      <vt:lpstr>Figtree Bold</vt:lpstr>
      <vt:lpstr>Arial</vt:lpstr>
      <vt:lpstr>Franklin Gothic Demi</vt:lpstr>
      <vt:lpstr>Urbanist SemiBold</vt:lpstr>
      <vt:lpstr>Urbanist ExtraBold</vt:lpstr>
      <vt:lpstr>Urbanist Bold</vt:lpstr>
      <vt:lpstr>Red Hat Mono Medium</vt:lpstr>
      <vt:lpstr>Figtree</vt:lpstr>
      <vt:lpstr>Figtree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Sarvan Kumar</cp:lastModifiedBy>
  <cp:revision>3</cp:revision>
  <dcterms:created xsi:type="dcterms:W3CDTF">2026-10-03T06:07:36Z</dcterms:created>
  <dcterms:modified xsi:type="dcterms:W3CDTF">2026-10-03T09:47:53Z</dcterms:modified>
</cp:coreProperties>
</file>